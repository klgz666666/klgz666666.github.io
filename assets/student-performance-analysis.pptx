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3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摘要页。三条结论各写一句话，分别对应后面的三个问题，写完这份报告的骨架就立住了。</a:t>
            </a:r>
          </a:p>
          <a:p>
            <a:r>
              <a:t>结论句的写法：先说发现，再说幅度。例如「缺课 11 次以上的学生平均期末成绩比全勤组低 X 分」。</a:t>
            </a:r>
          </a:p>
          <a:p>
            <a:r>
              <a:t>三个问题的顺序：Q1 平时成绩与期末成绩的关系，Q2 缺课的影响，Q3 家庭支持的真实作用。</a:t>
            </a:r>
          </a:p>
          <a:p>
            <a:r>
              <a:t>数据来源：UCI Machine Learning Repository, Student Performance Data Set (Cortez &amp; Silva, 2008)。</a:t>
            </a:r>
          </a:p>
          <a:p>
            <a:r>
              <a:t>详细做法见 outputs/数据分析作品-手把手.html 与 outputs/作品Q1-Q3-Excel做法.md。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这一页回答两个问题：数据从哪来，我动过哪些手。</a:t>
            </a:r>
          </a:p>
          <a:p>
            <a:r>
              <a:t>清洗口径必须写清剔除 g3 = 0 的理由：UCI 数据里 g3 为 0 的记录多为缺考或辍学，不是考了 0 分，混入平均分会把结论带偏。</a:t>
            </a:r>
          </a:p>
          <a:p>
            <a:r>
              <a:t>实测数字：g3 = 0 共 53 条（5.1%），数学 38 条、葡语 15 条；其中 33 条的 g2 仍大于 0，说明是缺考。剔除后剩 991 条。</a:t>
            </a:r>
          </a:p>
          <a:p>
            <a:r>
              <a:t>表里的字段可以按你的宽表实际列名替换。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这一页是后面两页的引子：期末成绩既然主要由平时成绩决定，那要追的就是平时成绩为什么有差异。</a:t>
            </a:r>
          </a:p>
          <a:p>
            <a:r>
              <a:t>相关系数必须分科目算（数学、葡语分开），两个数据集的分布不一样。</a:t>
            </a:r>
          </a:p>
          <a:p>
            <a:r>
              <a:t>相关系数高不等于因果，写结论时说「相关」不说「导致」。</a:t>
            </a:r>
          </a:p>
          <a:p>
            <a:r>
              <a:t>如果愿意，可以在图表里同时给出 g1、g2、g3 三个相关系数，一根横条一个变量。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图表从 Excel 直接复制粘贴进来，粘贴后调整到方框大小。</a:t>
            </a:r>
          </a:p>
          <a:p>
            <a:r>
              <a:t>每根柱子都要标样本数 n，样本很少的档位要在结论里说明。</a:t>
            </a:r>
          </a:p>
          <a:p>
            <a:r>
              <a:t>要看的不是「多少」，是拐点在哪里：0–5 次之间可能几乎没差别，超过 10 次才下滑。</a:t>
            </a:r>
          </a:p>
          <a:p>
            <a:r>
              <a:t>如果各档差别很小，结论就写没有明显差异，这同样是结论。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实测结果：家庭支持 11.88 对 12.05（几乎无差别），学校支持 10.67 对 12.12，付费补习 11.44 对 12.09。</a:t>
            </a:r>
          </a:p>
          <a:p>
            <a:r>
              <a:t>关键证据：拿到学校支持的一组，g1 平均只有 10.12 分，未接受的 11.59 分，起点就差 1.5 分。</a:t>
            </a:r>
          </a:p>
          <a:p>
            <a:r>
              <a:t>换成进步幅度（g3 减 g2）后，学校支持的差距从 1.45 分缩到 0.16 分。</a:t>
            </a:r>
          </a:p>
          <a:p>
            <a:r>
              <a:t>结论写「相关」并说明选择效应，不要写「支持有害」。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三条结论对应前三个发现，顺序保持一致。</a:t>
            </a:r>
          </a:p>
          <a:p>
            <a:r>
              <a:t>局限要主动写，主动写局限反而说明你懂分析。</a:t>
            </a:r>
          </a:p>
          <a:p>
            <a:r>
              <a:t>数据来源：UCI Machine Learning Repository, Student Performance Data Set (Cortez &amp; Silva, 2008)。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yebrow"/>
          <p:cNvSpPr>
            <a:spLocks noGrp="1"/>
          </p:cNvSpPr>
          <p:nvPr/>
        </p:nvSpPr>
        <p:spPr>
          <a:xfrm>
            <a:off x="762000" y="495300"/>
            <a:ext cx="5715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12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12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数据分析作品 · 2026.10</a:t>
            </a:r>
            <a:endParaRPr sz="112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deck-title"/>
          <p:cNvSpPr>
            <a:spLocks noGrp="1"/>
          </p:cNvSpPr>
          <p:nvPr/>
        </p:nvSpPr>
        <p:spPr>
          <a:xfrm>
            <a:off x="762000" y="1028700"/>
            <a:ext cx="8572500" cy="1104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34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5000"/>
              </a:lnSpc>
              <a:buNone/>
              <a:defRPr sz="34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4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学生成绩的影响因素分析</a:t>
            </a:r>
            <a:endParaRPr sz="34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deck-subtitle"/>
          <p:cNvSpPr>
            <a:spLocks noGrp="1"/>
          </p:cNvSpPr>
          <p:nvPr/>
        </p:nvSpPr>
        <p:spPr>
          <a:xfrm>
            <a:off x="762000" y="2247900"/>
            <a:ext cx="8953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数据来源：UCI Student Performance Data Set（Cortez &amp; Silva, 2008），1,044 条记录</a:t>
            </a:r>
            <a:endParaRPr sz="13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mmary-label-1"/>
          <p:cNvSpPr>
            <a:spLocks noGrp="1"/>
          </p:cNvSpPr>
          <p:nvPr/>
        </p:nvSpPr>
        <p:spPr>
          <a:xfrm>
            <a:off x="762000" y="32766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 ①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ummary-text-1"/>
          <p:cNvSpPr>
            <a:spLocks noGrp="1"/>
          </p:cNvSpPr>
          <p:nvPr/>
        </p:nvSpPr>
        <p:spPr>
          <a:xfrm>
            <a:off x="2019300" y="32766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42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期末成绩几乎由平时成绩决定</a:t>
            </a:r>
            <a:endParaRPr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ummary-label-2"/>
          <p:cNvSpPr>
            <a:spLocks noGrp="1"/>
          </p:cNvSpPr>
          <p:nvPr/>
        </p:nvSpPr>
        <p:spPr>
          <a:xfrm>
            <a:off x="762000" y="38100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 ②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ummary-text-2"/>
          <p:cNvSpPr>
            <a:spLocks noGrp="1"/>
          </p:cNvSpPr>
          <p:nvPr/>
        </p:nvSpPr>
        <p:spPr>
          <a:xfrm>
            <a:off x="2019300" y="38100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42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缺课次数少时</a:t>
            </a:r>
            <a:r>
              <a:rPr lang="zh-CN"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对期末成绩</a:t>
            </a:r>
            <a:r>
              <a:rPr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影响较小，大于10次成断崖式下降</a:t>
            </a:r>
            <a:endParaRPr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ummary-label-3"/>
          <p:cNvSpPr>
            <a:spLocks noGrp="1"/>
          </p:cNvSpPr>
          <p:nvPr/>
        </p:nvSpPr>
        <p:spPr>
          <a:xfrm>
            <a:off x="762000" y="4343400"/>
            <a:ext cx="114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 ③</a:t>
            </a:r>
            <a:endParaRPr sz="15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summary-text-3"/>
          <p:cNvSpPr>
            <a:spLocks noGrp="1"/>
          </p:cNvSpPr>
          <p:nvPr/>
        </p:nvSpPr>
        <p:spPr>
          <a:xfrm>
            <a:off x="2019300" y="4343400"/>
            <a:ext cx="8572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42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42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支持组和无支持组的差距，绝大部分来自起点差异，而不是支持本身的效果</a:t>
            </a:r>
            <a:endParaRPr sz="14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eck-footer"/>
          <p:cNvSpPr>
            <a:spLocks noGrp="1"/>
          </p:cNvSpPr>
          <p:nvPr/>
        </p:nvSpPr>
        <p:spPr>
          <a:xfrm>
            <a:off x="762000" y="5638800"/>
            <a:ext cx="857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吴瑶珍 · 2026.10 · 用 Excel 完成</a:t>
            </a:r>
            <a:endParaRPr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page-marker-1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-title"/>
          <p:cNvSpPr>
            <a:spLocks noGrp="1"/>
          </p:cNvSpPr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数据来源与处理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data-panel"/>
          <p:cNvSpPr>
            <a:spLocks noGrp="1"/>
          </p:cNvSpPr>
          <p:nvPr/>
        </p:nvSpPr>
        <p:spPr>
          <a:xfrm>
            <a:off x="762000" y="1257300"/>
            <a:ext cx="5905500" cy="4381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data-label-1"/>
          <p:cNvSpPr>
            <a:spLocks noGrp="1"/>
          </p:cNvSpPr>
          <p:nvPr/>
        </p:nvSpPr>
        <p:spPr>
          <a:xfrm>
            <a:off x="990600" y="14859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data-value-1"/>
          <p:cNvSpPr>
            <a:spLocks noGrp="1"/>
          </p:cNvSpPr>
          <p:nvPr/>
        </p:nvSpPr>
        <p:spPr>
          <a:xfrm>
            <a:off x="2152650" y="1485900"/>
            <a:ext cx="428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2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UCI Machine Learning Repository · Student Performance Data Set（Cortez &amp; Silva, 2008）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data-label-2"/>
          <p:cNvSpPr>
            <a:spLocks noGrp="1"/>
          </p:cNvSpPr>
          <p:nvPr/>
        </p:nvSpPr>
        <p:spPr>
          <a:xfrm>
            <a:off x="990600" y="23241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ata-value-2"/>
          <p:cNvSpPr>
            <a:spLocks noGrp="1"/>
          </p:cNvSpPr>
          <p:nvPr/>
        </p:nvSpPr>
        <p:spPr>
          <a:xfrm>
            <a:off x="2152650" y="2324100"/>
            <a:ext cx="428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2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1,044 条记录（数学 395、葡语 649）。3 张主表按 student_id 关联，另附 3 张字典表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data-label-3"/>
          <p:cNvSpPr>
            <a:spLocks noGrp="1"/>
          </p:cNvSpPr>
          <p:nvPr/>
        </p:nvSpPr>
        <p:spPr>
          <a:xfrm>
            <a:off x="990600" y="31623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因变量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data-value-3"/>
          <p:cNvSpPr>
            <a:spLocks noGrp="1"/>
          </p:cNvSpPr>
          <p:nvPr/>
        </p:nvSpPr>
        <p:spPr>
          <a:xfrm>
            <a:off x="2152650" y="3162300"/>
            <a:ext cx="428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2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g3（0–20 分，期末成绩）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data-label-4"/>
          <p:cNvSpPr>
            <a:spLocks noGrp="1"/>
          </p:cNvSpPr>
          <p:nvPr/>
        </p:nvSpPr>
        <p:spPr>
          <a:xfrm>
            <a:off x="990600" y="40005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解释变量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data-value-4"/>
          <p:cNvSpPr>
            <a:spLocks noGrp="1"/>
          </p:cNvSpPr>
          <p:nvPr/>
        </p:nvSpPr>
        <p:spPr>
          <a:xfrm>
            <a:off x="2152650" y="4000500"/>
            <a:ext cx="428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2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学习行为：studytime、failures、absences；家庭背景：medu、fedu、famsize；外部支持：schoolsup、famsup、paid</a:t>
            </a:r>
            <a:endParaRPr sz="120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data-label-5"/>
          <p:cNvSpPr>
            <a:spLocks noGrp="1"/>
          </p:cNvSpPr>
          <p:nvPr/>
        </p:nvSpPr>
        <p:spPr>
          <a:xfrm>
            <a:off x="990600" y="4838700"/>
            <a:ext cx="1047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清洗口径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data-value-5"/>
          <p:cNvSpPr>
            <a:spLocks noGrp="1"/>
          </p:cNvSpPr>
          <p:nvPr/>
        </p:nvSpPr>
        <p:spPr>
          <a:xfrm>
            <a:off x="2152650" y="4838700"/>
            <a:ext cx="428625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2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剔除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g3 = 0 </a:t>
            </a:r>
            <a:r>
              <a:rPr sz="120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的记录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5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条（5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.1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%），</a:t>
            </a:r>
            <a:r>
              <a:rPr sz="1200" dirty="0" err="1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剩余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99</a:t>
            </a:r>
            <a:r>
              <a:rPr lang="en-US"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200" dirty="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条。</a:t>
            </a:r>
            <a:endParaRPr sz="1200" dirty="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3" name="表格 12"/>
          <p:cNvGraphicFramePr/>
          <p:nvPr/>
        </p:nvGraphicFramePr>
        <p:xfrm>
          <a:off x="7086600" y="1600200"/>
          <a:ext cx="4343400" cy="1493520"/>
        </p:xfrm>
        <a:graphic>
          <a:graphicData uri="http://schemas.openxmlformats.org/drawingml/2006/table">
            <a:tbl>
              <a:tblPr firstRow="1" bandRow="1"/>
              <a:tblGrid>
                <a:gridCol w="1047750"/>
                <a:gridCol w="1962150"/>
                <a:gridCol w="1333500"/>
              </a:tblGrid>
              <a:tr h="4191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变量组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代表字段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取值</a:t>
                      </a:r>
                      <a:endParaRPr sz="112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学习行为</a:t>
                      </a:r>
                      <a:endParaRPr sz="105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studytime、failures、absences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档位与次数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家庭背景</a:t>
                      </a:r>
                      <a:endParaRPr sz="105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medu、fedu、famsize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0–4 级、家庭人数档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F172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外部支持</a:t>
                      </a:r>
                      <a:endParaRPr sz="1050">
                        <a:solidFill>
                          <a:srgbClr val="0F172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schoolsup、famsup、paid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475569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yes / no</a:t>
                      </a:r>
                      <a:endParaRPr sz="1050">
                        <a:solidFill>
                          <a:srgbClr val="475569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able-caption"/>
          <p:cNvSpPr>
            <a:spLocks noGrp="1"/>
          </p:cNvSpPr>
          <p:nvPr/>
        </p:nvSpPr>
        <p:spPr>
          <a:xfrm>
            <a:off x="7086600" y="4267200"/>
            <a:ext cx="43434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05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05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page-marker-2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7366000" y="3630295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/>
              <a:t>家庭支持（</a:t>
            </a:r>
            <a:r>
              <a:rPr lang="en-US" altLang="zh-CN" sz="1600"/>
              <a:t>famsup</a:t>
            </a:r>
            <a:r>
              <a:rPr lang="zh-CN" altLang="en-US" sz="1600"/>
              <a:t>）为数据集中</a:t>
            </a:r>
            <a:r>
              <a:rPr lang="en-US" altLang="zh-CN" sz="1600"/>
              <a:t>“</a:t>
            </a:r>
            <a:r>
              <a:rPr lang="zh-CN" altLang="en-US" sz="1600"/>
              <a:t>家庭是否提供教育支持</a:t>
            </a:r>
            <a:r>
              <a:rPr lang="en-US" altLang="zh-CN" sz="1600"/>
              <a:t>”</a:t>
            </a:r>
            <a:r>
              <a:rPr lang="zh-CN" altLang="en-US" sz="1600"/>
              <a:t>的二元自报变量（是</a:t>
            </a:r>
            <a:r>
              <a:rPr lang="en-US" altLang="zh-CN" sz="1600"/>
              <a:t>/</a:t>
            </a:r>
            <a:r>
              <a:rPr lang="zh-CN" altLang="en-US" sz="1600"/>
              <a:t>否），不区分支持的形式与强度；它与学校支持（</a:t>
            </a:r>
            <a:r>
              <a:rPr lang="en-US" altLang="zh-CN" sz="1600"/>
              <a:t>schoolsup</a:t>
            </a:r>
            <a:r>
              <a:rPr lang="zh-CN" altLang="en-US" sz="1600"/>
              <a:t>）、付费补习（</a:t>
            </a:r>
            <a:r>
              <a:rPr lang="en-US" altLang="zh-CN" sz="1600"/>
              <a:t>paid</a:t>
            </a:r>
            <a:r>
              <a:rPr lang="zh-CN" altLang="en-US" sz="1600"/>
              <a:t>）、父母学历（</a:t>
            </a:r>
            <a:r>
              <a:rPr lang="en-US" altLang="zh-CN" sz="1600"/>
              <a:t>medu/fedu</a:t>
            </a:r>
            <a:r>
              <a:rPr lang="zh-CN" altLang="en-US" sz="1600"/>
              <a:t>）为不同变量。</a:t>
            </a:r>
            <a:endParaRPr lang="zh-CN" altLang="en-US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>
            <a:spLocks noGrp="1"/>
          </p:cNvSpPr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发现一：平时成绩与期末成绩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rt-frame"/>
          <p:cNvSpPr>
            <a:spLocks noGrp="1"/>
          </p:cNvSpPr>
          <p:nvPr/>
        </p:nvSpPr>
        <p:spPr>
          <a:xfrm>
            <a:off x="762000" y="1295400"/>
            <a:ext cx="5715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chart-hint"/>
          <p:cNvSpPr>
            <a:spLocks noGrp="1"/>
          </p:cNvSpPr>
          <p:nvPr/>
        </p:nvSpPr>
        <p:spPr>
          <a:xfrm>
            <a:off x="1104900" y="2857500"/>
            <a:ext cx="5029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35000"/>
              </a:lnSpc>
              <a:buNone/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inding-label"/>
          <p:cNvSpPr>
            <a:spLocks noGrp="1"/>
          </p:cNvSpPr>
          <p:nvPr/>
        </p:nvSpPr>
        <p:spPr>
          <a:xfrm>
            <a:off x="6858000" y="1295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inding-method"/>
          <p:cNvSpPr>
            <a:spLocks noGrp="1"/>
          </p:cNvSpPr>
          <p:nvPr/>
        </p:nvSpPr>
        <p:spPr>
          <a:xfrm>
            <a:off x="6858000" y="1676400"/>
            <a:ext cx="4572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分别</a:t>
            </a: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g1、g2 与 g3 的相关系数（数学、葡语分别算）。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Excel 公式：=CORREL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inding-number-label"/>
          <p:cNvSpPr>
            <a:spLocks noGrp="1"/>
          </p:cNvSpPr>
          <p:nvPr/>
        </p:nvSpPr>
        <p:spPr>
          <a:xfrm>
            <a:off x="6858000" y="28194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inding-number"/>
          <p:cNvSpPr>
            <a:spLocks noGrp="1"/>
          </p:cNvSpPr>
          <p:nvPr/>
        </p:nvSpPr>
        <p:spPr>
          <a:xfrm>
            <a:off x="6858000" y="3124200"/>
            <a:ext cx="4572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数学的</a:t>
            </a:r>
            <a:r>
              <a:rPr lang="en-US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g1</a:t>
            </a:r>
            <a:r>
              <a:rPr lang="zh-CN" altLang="en-US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g2与g3的相关性均在0.9以上，葡萄牙语偏弱但也均在0.85以上</a:t>
            </a:r>
            <a:r>
              <a:rPr lang="zh-CN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3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inding-sowhat-label"/>
          <p:cNvSpPr>
            <a:spLocks noGrp="1"/>
          </p:cNvSpPr>
          <p:nvPr/>
        </p:nvSpPr>
        <p:spPr>
          <a:xfrm>
            <a:off x="6858000" y="39243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所以呢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inding-sowhat"/>
          <p:cNvSpPr>
            <a:spLocks noGrp="1"/>
          </p:cNvSpPr>
          <p:nvPr/>
        </p:nvSpPr>
        <p:spPr>
          <a:xfrm>
            <a:off x="6858000" y="4229100"/>
            <a:ext cx="457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期末成绩</a:t>
            </a:r>
            <a:r>
              <a:rPr lang="zh-CN" altLang="en-US"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350" dirty="0" err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平时成绩</a:t>
            </a:r>
            <a:r>
              <a:rPr lang="zh-CN" altLang="en-US"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高度相关。</a:t>
            </a:r>
            <a:endParaRPr sz="13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lide-marker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09712"/>
            <a:ext cx="571500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>
            <a:spLocks noGrp="1"/>
          </p:cNvSpPr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发现二：缺课与期末成绩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rt-frame"/>
          <p:cNvSpPr>
            <a:spLocks noGrp="1"/>
          </p:cNvSpPr>
          <p:nvPr/>
        </p:nvSpPr>
        <p:spPr>
          <a:xfrm>
            <a:off x="762000" y="1295400"/>
            <a:ext cx="5715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chart-hint"/>
          <p:cNvSpPr>
            <a:spLocks noGrp="1"/>
          </p:cNvSpPr>
          <p:nvPr/>
        </p:nvSpPr>
        <p:spPr>
          <a:xfrm>
            <a:off x="1104900" y="2857500"/>
            <a:ext cx="5029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35000"/>
              </a:lnSpc>
              <a:buNone/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inding-label"/>
          <p:cNvSpPr>
            <a:spLocks noGrp="1"/>
          </p:cNvSpPr>
          <p:nvPr/>
        </p:nvSpPr>
        <p:spPr>
          <a:xfrm>
            <a:off x="6858000" y="1295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inding-method"/>
          <p:cNvSpPr>
            <a:spLocks noGrp="1"/>
          </p:cNvSpPr>
          <p:nvPr/>
        </p:nvSpPr>
        <p:spPr>
          <a:xfrm>
            <a:off x="6858000" y="1676400"/>
            <a:ext cx="4572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 absences 分成 0 次、1–5 次、6–10 次、11 次以上四档，分别计算平均 g3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Excel 公式：</a:t>
            </a:r>
            <a:r>
              <a:rPr lang="en-US" alt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=AVERAGEIFS</a:t>
            </a:r>
            <a:endParaRPr lang="en-US" alt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inding-number-label"/>
          <p:cNvSpPr>
            <a:spLocks noGrp="1"/>
          </p:cNvSpPr>
          <p:nvPr/>
        </p:nvSpPr>
        <p:spPr>
          <a:xfrm>
            <a:off x="6858000" y="28194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inding-number"/>
          <p:cNvSpPr>
            <a:spLocks noGrp="1"/>
          </p:cNvSpPr>
          <p:nvPr/>
        </p:nvSpPr>
        <p:spPr>
          <a:xfrm>
            <a:off x="6858000" y="3124200"/>
            <a:ext cx="4572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</a:t>
            </a:r>
            <a:r>
              <a:rPr lang="zh-CN"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</a:t>
            </a:r>
            <a:r>
              <a:rPr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缺课次数与成绩成负相关，但缺课次数在10次以内</a:t>
            </a:r>
            <a:r>
              <a:rPr lang="zh-CN"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期末成绩</a:t>
            </a:r>
            <a:r>
              <a:rPr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差别不大，超过10次差距明显上升</a:t>
            </a:r>
            <a:r>
              <a:rPr lang="zh-CN" sz="1350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350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inding-sowhat-label"/>
          <p:cNvSpPr>
            <a:spLocks noGrp="1"/>
          </p:cNvSpPr>
          <p:nvPr/>
        </p:nvSpPr>
        <p:spPr>
          <a:xfrm>
            <a:off x="6858000" y="39243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所以呢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inding-sowhat"/>
          <p:cNvSpPr>
            <a:spLocks noGrp="1"/>
          </p:cNvSpPr>
          <p:nvPr/>
        </p:nvSpPr>
        <p:spPr>
          <a:xfrm>
            <a:off x="6858000" y="4229100"/>
            <a:ext cx="457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sz="1350" dirty="0">
                <a:solidFill>
                  <a:schemeClr val="tx2"/>
                </a:solidFill>
                <a:latin typeface="微软雅黑" panose="020B0503020204020204" charset="-122"/>
              </a:rPr>
              <a:t>缺课</a:t>
            </a:r>
            <a:r>
              <a:rPr lang="zh-CN" altLang="zh-CN" sz="1350" dirty="0">
                <a:solidFill>
                  <a:schemeClr val="tx2"/>
                </a:solidFill>
                <a:latin typeface="微软雅黑" panose="020B0503020204020204" charset="-122"/>
              </a:rPr>
              <a:t>次数 10 次可以作为学业预警信号，单独跟进。</a:t>
            </a:r>
            <a:endParaRPr sz="1350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lide-marker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2000" y="1509713"/>
            <a:ext cx="571500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>
            <a:spLocks noGrp="1"/>
          </p:cNvSpPr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发现三：家庭支持与期末成绩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rt-frame"/>
          <p:cNvSpPr>
            <a:spLocks noGrp="1"/>
          </p:cNvSpPr>
          <p:nvPr/>
        </p:nvSpPr>
        <p:spPr>
          <a:xfrm>
            <a:off x="762000" y="1295400"/>
            <a:ext cx="5715000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" name="chart-hint"/>
          <p:cNvSpPr>
            <a:spLocks noGrp="1"/>
          </p:cNvSpPr>
          <p:nvPr/>
        </p:nvSpPr>
        <p:spPr>
          <a:xfrm>
            <a:off x="1104900" y="2857500"/>
            <a:ext cx="50292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ctr"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lnSpc>
                <a:spcPct val="135000"/>
              </a:lnSpc>
              <a:buNone/>
              <a:defRPr sz="120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>
              <a:solidFill>
                <a:srgbClr val="B4530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inding-label"/>
          <p:cNvSpPr>
            <a:spLocks noGrp="1"/>
          </p:cNvSpPr>
          <p:nvPr/>
        </p:nvSpPr>
        <p:spPr>
          <a:xfrm>
            <a:off x="6858000" y="12954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finding-method"/>
          <p:cNvSpPr>
            <a:spLocks noGrp="1"/>
          </p:cNvSpPr>
          <p:nvPr/>
        </p:nvSpPr>
        <p:spPr>
          <a:xfrm>
            <a:off x="6858000" y="1676400"/>
            <a:ext cx="4572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 famsup / schoolsup / paid 分组比较平均 g3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；再把因变量变为平时成绩重新</a:t>
            </a:r>
            <a:r>
              <a:rPr lang="zh-CN"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计算。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Excel 公式：</a:t>
            </a:r>
            <a:r>
              <a:rPr lang="en-US" altLang="zh-CN">
                <a:sym typeface="+mn-ea"/>
              </a:rPr>
              <a:t>=AVERAGEIFS</a:t>
            </a:r>
            <a:endParaRPr lang="zh-CN"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finding-number-label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858000" y="28194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finding-number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858000" y="3124200"/>
            <a:ext cx="4572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受到支持的学生反而期末成绩不如未受到支持的学生，与直觉相反</a:t>
            </a:r>
            <a:r>
              <a:rPr lang="zh-CN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，但是受到支持的学生的平时成绩低于未受到支持的</a:t>
            </a:r>
            <a:r>
              <a:rPr lang="zh-CN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同学。</a:t>
            </a:r>
            <a:endParaRPr lang="zh-CN" sz="13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finding-sowhat-label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6858000" y="39243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所以呢</a:t>
            </a:r>
            <a:endParaRPr sz="1275" b="1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inding-sowhat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858000" y="4229100"/>
            <a:ext cx="4572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350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这不是支持无效，而是支持被分配给了原本较弱的学生（选择效应）</a:t>
            </a:r>
            <a:r>
              <a:rPr lang="zh-CN" sz="135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135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lide-marker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buNone/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1509713"/>
            <a:ext cx="5715000" cy="35718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-title"/>
          <p:cNvSpPr>
            <a:spLocks noGrp="1"/>
          </p:cNvSpPr>
          <p:nvPr/>
        </p:nvSpPr>
        <p:spPr>
          <a:xfrm>
            <a:off x="762000" y="495300"/>
            <a:ext cx="1066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结论与局限</a:t>
            </a:r>
            <a:endParaRPr sz="24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onclusion-heading"/>
          <p:cNvSpPr>
            <a:spLocks noGrp="1"/>
          </p:cNvSpPr>
          <p:nvPr/>
        </p:nvSpPr>
        <p:spPr>
          <a:xfrm>
            <a:off x="762000" y="12573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三条结论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nclusion-1"/>
          <p:cNvSpPr>
            <a:spLocks noGrp="1"/>
          </p:cNvSpPr>
          <p:nvPr/>
        </p:nvSpPr>
        <p:spPr>
          <a:xfrm>
            <a:off x="762000" y="1676400"/>
            <a:ext cx="533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7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</a:t>
            </a:r>
            <a:r>
              <a:rPr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期末成绩几乎由平时成绩决定</a:t>
            </a:r>
            <a:endParaRPr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nclusion-2"/>
          <p:cNvSpPr>
            <a:spLocks noGrp="1"/>
          </p:cNvSpPr>
          <p:nvPr/>
        </p:nvSpPr>
        <p:spPr>
          <a:xfrm>
            <a:off x="762000" y="2476500"/>
            <a:ext cx="5334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7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</a:t>
            </a:r>
            <a:r>
              <a:rPr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缺课次数少时</a:t>
            </a:r>
            <a:r>
              <a:rPr lang="zh-CN"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对期末成绩</a:t>
            </a:r>
            <a:r>
              <a:rPr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影响较小，大于10次成断崖式下降</a:t>
            </a:r>
            <a:endParaRPr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conclusion-3"/>
          <p:cNvSpPr>
            <a:spLocks noGrp="1"/>
          </p:cNvSpPr>
          <p:nvPr/>
        </p:nvSpPr>
        <p:spPr>
          <a:xfrm>
            <a:off x="762000" y="3276600"/>
            <a:ext cx="533400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75">
                <a:solidFill>
                  <a:srgbClr val="B4530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</a:t>
            </a:r>
            <a:r>
              <a:rPr sz="12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支持组和无支持组的差距，绝大部分来自起点差异，而不是支持本身的效果</a:t>
            </a:r>
            <a:endParaRPr sz="12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limit-heading"/>
          <p:cNvSpPr>
            <a:spLocks noGrp="1"/>
          </p:cNvSpPr>
          <p:nvPr/>
        </p:nvSpPr>
        <p:spPr>
          <a:xfrm>
            <a:off x="6858000" y="125730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buNone/>
              <a:def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</a:t>
            </a:r>
            <a:endParaRPr sz="13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imit-1"/>
          <p:cNvSpPr>
            <a:spLocks noGrp="1"/>
          </p:cNvSpPr>
          <p:nvPr/>
        </p:nvSpPr>
        <p:spPr>
          <a:xfrm>
            <a:off x="6858000" y="16764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相关不等于因果。数据来自观察，不是实验。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limit-2"/>
          <p:cNvSpPr>
            <a:spLocks noGrp="1"/>
          </p:cNvSpPr>
          <p:nvPr/>
        </p:nvSpPr>
        <p:spPr>
          <a:xfrm>
            <a:off x="6858000" y="24003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样本为 2005–2008 年葡萄牙两所学校的学生，不能直接推广到其他地区。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limit-3"/>
          <p:cNvSpPr>
            <a:spLocks noGrp="1"/>
          </p:cNvSpPr>
          <p:nvPr/>
        </p:nvSpPr>
        <p:spPr>
          <a:xfrm>
            <a:off x="6858000" y="31242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g3 = 0 的缺考与辍学记录已剔除，可能低估辍学风险。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limit-4"/>
          <p:cNvSpPr>
            <a:spLocks noGrp="1"/>
          </p:cNvSpPr>
          <p:nvPr/>
        </p:nvSpPr>
        <p:spPr>
          <a:xfrm>
            <a:off x="6858000" y="3848100"/>
            <a:ext cx="4572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>
                <a:solidFill>
                  <a:srgbClr val="4755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只看单科期末成绩，没有考虑教师、班级等未记录因素。</a:t>
            </a:r>
            <a:endParaRPr sz="1200">
              <a:solidFill>
                <a:srgbClr val="4755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source-line"/>
          <p:cNvSpPr>
            <a:spLocks noGrp="1"/>
          </p:cNvSpPr>
          <p:nvPr/>
        </p:nvSpPr>
        <p:spPr>
          <a:xfrm>
            <a:off x="762000" y="5334000"/>
            <a:ext cx="10668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30000"/>
              </a:lnSpc>
              <a:buNone/>
              <a:def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数据来源：UCI Machine Learning Repository · Student Performance Data Set（Cortez &amp; Silva, 2008）。分析工具：Excel。</a:t>
            </a:r>
            <a:endParaRPr sz="1050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age-marker-6"/>
          <p:cNvSpPr>
            <a:spLocks noGrp="1"/>
          </p:cNvSpPr>
          <p:nvPr/>
        </p:nvSpPr>
        <p:spPr>
          <a:xfrm>
            <a:off x="10668000" y="6362700"/>
            <a:ext cx="762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r">
              <a:def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>
                <a:solidFill>
                  <a:srgbClr val="94A3B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975">
              <a:solidFill>
                <a:srgbClr val="94A3B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,&quot;left&quot;:540,&quot;top&quot;:222,&quot;width&quot;:360}"/>
</p:tagLst>
</file>

<file path=ppt/tags/tag2.xml><?xml version="1.0" encoding="utf-8"?>
<p:tagLst xmlns:p="http://schemas.openxmlformats.org/presentationml/2006/main">
  <p:tag name="KSO_WM_DIAGRAM_VIRTUALLY_FRAME" val="{&quot;height&quot;:186,&quot;left&quot;:540,&quot;top&quot;:222,&quot;width&quot;:360}"/>
</p:tagLst>
</file>

<file path=ppt/tags/tag3.xml><?xml version="1.0" encoding="utf-8"?>
<p:tagLst xmlns:p="http://schemas.openxmlformats.org/presentationml/2006/main">
  <p:tag name="KSO_WM_DIAGRAM_VIRTUALLY_FRAME" val="{&quot;height&quot;:186,&quot;left&quot;:540,&quot;top&quot;:222,&quot;width&quot;:360}"/>
</p:tagLst>
</file>

<file path=ppt/tags/tag4.xml><?xml version="1.0" encoding="utf-8"?>
<p:tagLst xmlns:p="http://schemas.openxmlformats.org/presentationml/2006/main">
  <p:tag name="KSO_WM_DIAGRAM_VIRTUALLY_FRAME" val="{&quot;height&quot;:186,&quot;left&quot;:540,&quot;top&quot;:222,&quot;width&quot;:360}"/>
</p:tagLst>
</file>

<file path=ppt/theme/theme1.xml><?xml version="1.0" encoding="utf-8"?>
<a:theme xmlns:a="http://schemas.openxmlformats.org/drawingml/2006/main" name="ChatGPT">
  <a:themeElements>
    <a:clrScheme name="Report Neutral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B45309"/>
      </a:accent3>
      <a:accent4>
        <a:srgbClr val="B42318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Report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Report Neutral">
      <a:dk1>
        <a:srgbClr val="000000"/>
      </a:dk1>
      <a:lt1>
        <a:srgbClr val="FFFFFF"/>
      </a:lt1>
      <a:dk2>
        <a:srgbClr val="1E293B"/>
      </a:dk2>
      <a:lt2>
        <a:srgbClr val="E2E8F0"/>
      </a:lt2>
      <a:accent1>
        <a:srgbClr val="1D4ED8"/>
      </a:accent1>
      <a:accent2>
        <a:srgbClr val="0F766E"/>
      </a:accent2>
      <a:accent3>
        <a:srgbClr val="B45309"/>
      </a:accent3>
      <a:accent4>
        <a:srgbClr val="B42318"/>
      </a:accent4>
      <a:accent5>
        <a:srgbClr val="7C3AED"/>
      </a:accent5>
      <a:accent6>
        <a:srgbClr val="16A34A"/>
      </a:accent6>
      <a:hlink>
        <a:srgbClr val="1D4ED8"/>
      </a:hlink>
      <a:folHlink>
        <a:srgbClr val="7C3AE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Report Neutral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1489</Words>
  <Application>WPS 演示</Application>
  <PresentationFormat>宽屏</PresentationFormat>
  <Paragraphs>147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2" baseType="lpstr">
      <vt:lpstr>Arial</vt:lpstr>
      <vt:lpstr>宋体</vt:lpstr>
      <vt:lpstr>Wingdings</vt:lpstr>
      <vt:lpstr>微软雅黑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吴瑶珍</cp:lastModifiedBy>
  <cp:revision>4</cp:revision>
  <dcterms:created xsi:type="dcterms:W3CDTF">2026-10-09T14:23:00Z</dcterms:created>
  <dcterms:modified xsi:type="dcterms:W3CDTF">2026-10-21T11:10:25Z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9E83236E6C6D4F989CC8C0174957382F_12</vt:lpwstr>
  </property>
  <property fmtid="{D5CDD505-2E9C-101B-9397-08002B2CF9AE}" pid="3" name="KSOProductBuildVer">
    <vt:lpwstr>2052-12.1.0.23542</vt:lpwstr>
  </property>
</Properties>
</file>